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0972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 panose="02040503050406030204"/>
              </a:rPr>
              <a:t>GENERATIVE</a:t>
            </a:r>
            <a:endParaRPr sz="36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mbria" panose="02040503050406030204"/>
              </a:rPr>
              <a:t>ADVERSARIAL</a:t>
            </a:r>
            <a:endParaRPr sz="36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 panose="02040503050406030204"/>
              </a:rPr>
              <a:t>NETWORKS</a:t>
            </a:r>
            <a:endParaRPr sz="36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  <a:latin typeface="Calibri" panose="020F0502020204030204"/>
              </a:rPr>
              <a:t>Theory · Architecture · Applications · Deepfakes · Demos</a:t>
            </a:r>
            <a:endParaRPr sz="1200" b="0" i="1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4480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Prepared for Academic Presentation  |  16:9 Format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0640" y="914400"/>
            <a:ext cx="3474720" cy="50292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987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mbria" panose="02040503050406030204"/>
              </a:rPr>
              <a:t>GANs</a:t>
            </a:r>
            <a:endParaRPr sz="14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20640" y="1691640"/>
            <a:ext cx="3474720" cy="50292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764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mbria" panose="02040503050406030204"/>
              </a:rPr>
              <a:t>Synthetic Data</a:t>
            </a:r>
            <a:endParaRPr sz="14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20640" y="2468880"/>
            <a:ext cx="3474720" cy="50292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mbria" panose="02040503050406030204"/>
              </a:rPr>
              <a:t>Deep Learning</a:t>
            </a:r>
            <a:endParaRPr sz="14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20640" y="3246120"/>
            <a:ext cx="3474720" cy="50292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319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mbria" panose="02040503050406030204"/>
              </a:rPr>
              <a:t>Deepfakes</a:t>
            </a:r>
            <a:endParaRPr sz="14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20640" y="4023360"/>
            <a:ext cx="3474720" cy="50292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mbria" panose="02040503050406030204"/>
              </a:rPr>
              <a:t>Python Demos</a:t>
            </a:r>
            <a:endParaRPr sz="1400" b="1" i="0">
              <a:solidFill>
                <a:srgbClr val="00B4D8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91440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567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2B45"/>
                </a:solidFill>
                <a:latin typeface="Cambria" panose="02040503050406030204"/>
              </a:rPr>
              <a:t>Presentation Roadmap</a:t>
            </a:r>
            <a:endParaRPr sz="26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960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1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Introduction &amp; History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What GANs are and how they evolved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2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Mathematical Foundation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Minimax objective, Nash equilibrium, JSD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288036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971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3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Step-by-step Mechanism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Training loop, alternating optimization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388620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9776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4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Architectures &amp; Variants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325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DCGAN, WGAN, cGAN, StyleGAN, CTGAN…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63440" y="86868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960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5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Applications &amp; Case Studies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13075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Vision, medical, tabular, creative AI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63440" y="1874519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6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4920" y="193852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Deepfakes &amp; Ethics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4920" y="23134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Generation, detection, society, governance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663440" y="288036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2971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7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74920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Demo 1 – Tabular GAN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74920" y="33192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Balancing imbalanced datasets with synthetic rows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63440" y="3886200"/>
            <a:ext cx="443484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9776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mbria" panose="02040503050406030204"/>
              </a:rPr>
              <a:t>8</a:t>
            </a:r>
            <a:endParaRPr sz="18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74920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Demo 2 – Image GAN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74920" y="4325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Fine-tuning on small image folders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Introduction — What is a GAN?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  <a:latin typeface="Calibri" panose="020F0502020204030204"/>
              </a:rPr>
              <a:t>A two-player adversarial framework for learning generative models</a:t>
            </a:r>
            <a:endParaRPr sz="1400" b="0" i="1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651760" cy="26974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898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GENERATOR  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Input: random noise vector z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Output: synthetic sample G(z)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Goal: fool the discriminator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Architecture: MLP or CNN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651760" cy="26974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3898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DISCRIMINATOR  D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79" y="18288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Input: real or fake sample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Output: probability of being real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Goal: correctly classify inputs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Architecture: CNN or MLP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26974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ADVERSARIAL LOOP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G and D have opposing objectives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Gradients flow back through D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Both improve simultaneously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Equilibrium: p_g = p_data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  <a:latin typeface="Calibri" panose="020F0502020204030204"/>
              </a:rPr>
              <a:t>Key insight: GANs are implicit generative models — they sample without writing an explicit likelihood function.</a:t>
            </a:r>
            <a:endParaRPr sz="1100" b="0" i="1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" y="45720"/>
            <a:ext cx="89268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History &amp; Evolution of GANs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54864" cy="39776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078992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875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Pre-2014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987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Earlier Generative Models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3120" y="12984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VAEs, RBMs, autoregressive models — blurry or slow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0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2014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031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Original GAN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186537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Goodfellow et al. — minimax game, NeurIPS landmark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4048" y="221284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21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2015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0312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DCGAN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03120" y="243230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Radford et al. — convolutional architecture guidelines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4048" y="2779776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883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2016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688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Pix2Pix / cGAN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3120" y="299923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Paired &amp; conditional image translation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4048" y="3346704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552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2017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3120" y="32552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CycleGAN / WGAN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566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Unpaired translation; Wasserstein stability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048" y="3913631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22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2018–20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0312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BigGAN / StyleGAN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4133087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Large-scale class-conditional; style-based synthesis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84048" y="4480559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2021+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031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Diffusion era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03120" y="470001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Diffusion models rise; GANs remain fast samplers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" y="45720"/>
            <a:ext cx="89268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Mathematical Objective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Calibri" panose="020F0502020204030204"/>
              </a:rPr>
              <a:t>The original GAN solves a minimax optimization problem:</a:t>
            </a:r>
            <a:endParaRPr sz="14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0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1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Courier New" panose="02070309020205020404"/>
              </a:rPr>
              <a:t>min_G  max_D  V(D,G)  =  E_{x~p_data}[log D(x)]  +  E_{z~p_z}[log(1 − D(G(z)))]</a:t>
            </a:r>
            <a:endParaRPr sz="1300" b="0" i="0">
              <a:solidFill>
                <a:srgbClr val="90E0EF"/>
              </a:solidFill>
              <a:latin typeface="Courier New" panose="020703090202050204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8046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88B"/>
                </a:solidFill>
                <a:latin typeface="Calibri" panose="020F0502020204030204"/>
              </a:rPr>
              <a:t>Goodfellow et al., NeurIPS 2014</a:t>
            </a:r>
            <a:endParaRPr sz="10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931920" cy="16916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Discriminator Objective (max)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D(x) → 1  for real samples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D(G(z)) → 0  for fake samples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Maximizes correct classification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 behaves like a binary classifier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46320" y="2331720"/>
            <a:ext cx="3931920" cy="16916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Generator Objective (min)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83480" y="27889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Makes D(G(z)) → 1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Forces discriminator errors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Equivalent to minimizing JSD at optimum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Non-saturating variant: −log D(G(z))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417880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166"/>
                </a:solidFill>
                <a:latin typeface="Calibri" panose="020F0502020204030204"/>
              </a:rPr>
              <a:t>Nash Equilibrium: p_g = p_data  and  D*(x) = 0.5 everywhere. Discriminator cannot distinguish real from generated.</a:t>
            </a:r>
            <a:endParaRPr sz="11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Theoretical Foundations — Divergence Measures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850392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Jensen–Shannon Divergence (JSD)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Original GAN implicitly minimises JSD(p_data || p_g)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JSD is symmetric and bounded [0, log 2]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Problem: if supports don't overlap, JSD = log 2 (constant gradient)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Leads to vanishing gradients early in training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850392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Wasserstein Distance (WGAN)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Measures Earth-Mover distance between distributions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Provides meaningful gradients even with non-overlapping supports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Requires Lipschitz constraint on D (weight clipping or gradient penalty)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More stable training; loss curve correlates with sample quality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KL &amp; f-Divergences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Many GAN variants minimise different f-divergences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LS-GAN uses least squares loss — avoids saturation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Energy-based GANs model D as an energy function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• Choosing the right divergence affects mode coverage vs. quality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flipH="1">
            <a:off x="0" y="45720"/>
            <a:ext cx="137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" y="45720"/>
            <a:ext cx="89604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Step-by-Step Training Mechanism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9326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1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960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Sample Real Batch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79" y="15361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Draw x ~ p_data(x) from the training dataset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46120" y="82296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9326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2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04487" y="960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Sample Noise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79" y="15361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Draw z ~ p_z(z) (e.g., N(0,I)) — the latent vector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82296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9326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3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76288" y="960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Generate Fake Batch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15361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Compute G(z) — forward pass through Generator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78892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89864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4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2926079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Train Discriminator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79" y="35021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Minimize loss: real→1, fake→0. Back-propagate through D.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46120" y="278892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289864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5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04487" y="2926079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Freeze D — Train G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83279" y="35021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Back-propagate generator loss through frozen D. Update G.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7920" y="2788920"/>
            <a:ext cx="2743200" cy="1737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7648" y="289864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6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926079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Repeat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55080" y="35021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Loop until losses stabilise and generated samples look realistic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735" y="45720"/>
            <a:ext cx="8922385" cy="594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Training Algorithm &amp; Stability Techniques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846320" cy="3108960"/>
          </a:xfrm>
          <a:prstGeom prst="rect">
            <a:avLst/>
          </a:prstGeom>
          <a:solidFill>
            <a:srgbClr val="0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44805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Courier New" panose="02070309020205020404"/>
              </a:rPr>
              <a:t>for epoch in range(num_epochs):
  for batch in dataloader:
    # --- Train Discriminator ---
    d_loss = BCE(D(x), 1) + BCE(D(G(z)), 0)
    optimizer_D.zero_grad()
    d_loss.backward(); optimizer_D.step()
    # --- Train Generator ---
    g_loss = BCE(D(G(z)), 1)
    optimizer_G.zero_grad()
    g_loss.backward(); optimizer_G.step()</a:t>
            </a:r>
            <a:endParaRPr sz="1300" b="0" i="0">
              <a:solidFill>
                <a:srgbClr val="90E0EF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538728"/>
            <a:ext cx="4480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88B"/>
                </a:solidFill>
                <a:latin typeface="Calibri" panose="020F0502020204030204"/>
              </a:rPr>
              <a:t>Standard GAN training loop (PyTorch style)</a:t>
            </a:r>
            <a:endParaRPr sz="10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49240" y="777240"/>
            <a:ext cx="3474720" cy="3108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868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Stabilisation Techniques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132588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Spectral Norm: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Constrain D weight matrices → 1-Lipschitz without extra penalty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Gradient Penalty: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WGAN-GP: ‖∇_x̂ D(x̂)‖₂ = 1 regulariser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Label Smoothing: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Real labels = 0.9 instead of 1.0 — prevents overconfident D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Balanced LR: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Adam with (β₁=0.5, β₂=0.999); lower LR for D if needed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Batch Norm: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BN in G stabilises feature distributions across layers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90E0EF"/>
                </a:solidFill>
                <a:latin typeface="Calibri" panose="020F0502020204030204"/>
              </a:rPr>
              <a:t>▸ EMA of G: </a:t>
            </a:r>
            <a:r>
              <a:rPr sz="1000">
                <a:solidFill>
                  <a:srgbClr val="F0F4F8"/>
                </a:solidFill>
                <a:latin typeface="Calibri" panose="020F0502020204030204"/>
              </a:rPr>
              <a:t>Exponential moving average of G weights for smoother samples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133087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166"/>
                </a:solidFill>
                <a:latin typeface="Calibri" panose="020F0502020204030204"/>
              </a:rPr>
              <a:t>Rule of thumb: if D loss → 0 early, reduce D learning rate or add gradient penalty. If G loss explodes, add spectral norm.</a:t>
            </a:r>
            <a:endParaRPr sz="10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65" y="91440"/>
            <a:ext cx="874077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Common Training Problems &amp; Fixes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278892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2788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77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Mode Collapse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Generator produces limited varieties — ignores modes of p_data.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212140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Solutions: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2468880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Minibatch discrimination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Unrolled GAN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VEEGAN (reconstruction penalty)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46120" y="822960"/>
            <a:ext cx="278892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822960"/>
            <a:ext cx="2788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877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Vanishing Gradients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5848" y="13716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D too accurate → log(1-D(G(z))) ≈ 0 → no gradient for G.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5848" y="212140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Solutions: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5848" y="2468880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Non-saturating loss: −log D(G(z))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WGAN / WGAN-GP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Label smoothing on D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822960"/>
            <a:ext cx="278892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822960"/>
            <a:ext cx="2788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877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Non-convergence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27648" y="13716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Calibri" panose="020F0502020204030204"/>
              </a:rPr>
              <a:t>Adversarial oscillation — losses cycle without settling.</a:t>
            </a:r>
            <a:endParaRPr sz="11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27648" y="212140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Solutions: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Spectral normalisation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Two-time-scale update rule (TTUR)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✓  Progressive growing (ProGAN)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15240" y="45720"/>
            <a:ext cx="897636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Core GAN Architecture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261872" cy="822960"/>
          </a:xfrm>
          <a:prstGeom prst="rect">
            <a:avLst/>
          </a:prstGeom>
          <a:solidFill>
            <a:srgbClr val="0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Noise z
N(0,I)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36192" y="1188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9072" y="96012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Linear
Projection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0944" y="1188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63824" y="96012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Reshape
4×4×512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5696" y="1188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08576" y="96012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ConvTranspose
8×8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70448" y="1188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53328" y="96012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ConvTranspose
16×16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1188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98080" y="960120"/>
            <a:ext cx="126187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987552"/>
            <a:ext cx="11704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B45"/>
                </a:solidFill>
                <a:latin typeface="Calibri" panose="020F0502020204030204"/>
              </a:rPr>
              <a:t>ConvTranspose
64×64×3</a:t>
            </a:r>
            <a:endParaRPr sz="10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GENERATOR  G   (Upsampling path — transposed convolutions)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2286000"/>
            <a:ext cx="126187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B45"/>
                </a:solidFill>
                <a:latin typeface="Calibri" panose="020F0502020204030204"/>
              </a:rPr>
              <a:t>Image
64×64×3</a:t>
            </a:r>
            <a:endParaRPr sz="10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36192" y="2514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19072" y="228600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64792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Conv
32×32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80944" y="2514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63824" y="228600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9544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Conv
16×16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25696" y="2514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08576" y="228600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Conv
8×8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70448" y="2514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53328" y="2286000"/>
            <a:ext cx="1261872" cy="8229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8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Flatten
+ Linear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514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498080" y="2286000"/>
            <a:ext cx="1261872" cy="822960"/>
          </a:xfrm>
          <a:prstGeom prst="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2304288"/>
            <a:ext cx="117043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D(x)
∈ [0,1]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4320" y="207568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DISCRIMINATOR  D   (Downsampling path — strided convolutions)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74320" y="333756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▸  Image GANs: ConvTranspose2d (G) + strided Conv2d (D)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09159" y="333756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▸  Tabular GANs: MLPs with mode-specific normalisation (CTGAN)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4320" y="3776472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▸  Conditional GANs: class embedding concatenated to z or as AdaIN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09159" y="3776472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▸  Activation: ReLU/Tanh in G; LeakyReLU(0.2) in D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635" y="45720"/>
            <a:ext cx="896175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Important GAN Variants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14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cGAN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308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Condition G and D on class labels or attributes. min_G max_D V + condition embedding.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Targeted generation; minority class synthesis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59" y="841248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914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DCGAN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19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Convolutional guidelines: BN, no pooling, ReLU in G, LeakyReLU in D.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0" y="1353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Foundation for most image GANs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1865376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38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WGAN / WGAN-GP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83080" y="1938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Wasserstein distance + Lipschitz constraint (gradient penalty).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2377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Stable training; meaningful loss metric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59" y="1865376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38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Pix2Pix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19" y="1938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Paired image-to-image translation with L1 + adversarial loss.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2377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Edge→photo, maps→satellite, sketch→face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2889504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962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CycleGAN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83080" y="2962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Unpaired translation with cycle-consistency: F(G(x))≈x.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79" y="34015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Horse↔Zebra, summer↔winter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09159" y="2889504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962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SRGAN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19" y="2962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Perceptual + adversarial loss for photo-realistic super-resolution.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34015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Medical imaging, remote sensing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3913632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StyleGAN (v1/2/3)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83080" y="39867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Mapping network + style modulation + path length regularisation.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79" y="44256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Highest quality face synthesis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09159" y="3913632"/>
            <a:ext cx="4206240" cy="9144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CTGAN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17919" y="39867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 panose="020F0502020204030204"/>
              </a:rPr>
              <a:t>GAN for tabular data; mode-specific normalisation + conditional sampling.</a:t>
            </a:r>
            <a:endParaRPr sz="10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46320" y="44256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 panose="020F0502020204030204"/>
              </a:rPr>
              <a:t>Use: Synthetic dataset generation</a:t>
            </a:r>
            <a:endParaRPr sz="1000" b="0" i="1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50165" y="37465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Conditional GAN — Architecture &amp; Mathematics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0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Courier New" panose="02070309020205020404"/>
              </a:rPr>
              <a:t>min_G max_D V(D,G) = E_{x,y}[log D(x|y)] + E_{z,y}[log(1 − D(G(z|y)|y))]</a:t>
            </a:r>
            <a:endParaRPr sz="1300" b="0" i="0">
              <a:solidFill>
                <a:srgbClr val="90E0EF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88B"/>
                </a:solidFill>
                <a:latin typeface="Calibri" panose="020F0502020204030204"/>
              </a:rPr>
              <a:t>y can be a class label, text embedding, segmentation map, or tabular profile</a:t>
            </a:r>
            <a:endParaRPr sz="10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556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Conditioning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Append one-hot label to z (G) and to input layer (D) or use AdaIN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09159" y="166420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556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AC-GAN variant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2121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Auxiliary classifier in D predicts class → extra class-conditioning signal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67004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61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InfoGAN variant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3127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Maximise mutual information I(c; G(z,c)) for disentangled representations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59" y="267004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761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Use in Demo 1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3127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Conditioning on minority class label to generate synthetic minority rows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367588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7673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Evaluation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79" y="4133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Inception Score (IS), FID per class, downstream ML performance delta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09159" y="367588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673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Key limitation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46320" y="4133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Requires labelled data; mismatch between G and D conditions hurts training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" y="45720"/>
            <a:ext cx="89604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DCGAN — Deep Convolutional GAN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0058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2B45"/>
                </a:solidFill>
                <a:latin typeface="Calibri" panose="020F0502020204030204"/>
              </a:rPr>
              <a:t>z (100)</a:t>
            </a:r>
            <a:endParaRPr sz="9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17043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960120"/>
            <a:ext cx="1005840" cy="6858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Dense→4×4×512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117043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31720" y="960120"/>
            <a:ext cx="1005840" cy="6858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ConvT→8×8×256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7560" y="117043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20440" y="960120"/>
            <a:ext cx="1005840" cy="6858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ConvT→16×16×128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117043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60" y="960120"/>
            <a:ext cx="1005840" cy="68580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ConvT→32×32×64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0" y="117043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960120"/>
            <a:ext cx="10058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97840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2B45"/>
                </a:solidFill>
                <a:latin typeface="Calibri" panose="020F0502020204030204"/>
              </a:rPr>
              <a:t>ConvT→64×64×3
+ Tanh</a:t>
            </a:r>
            <a:endParaRPr sz="9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7498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Generator path (z → Image):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1874519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DCGAN Design Guidelines (Radford et al., 2015):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" y="2240280"/>
            <a:ext cx="85953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Replace pooling with strided convolutions (D) / transposed convolutions (G)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Use Batch Normalisation in both G and D (except G output and D input layers)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Activation in G: ReLU for hidden layers, Tanh for output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Activation in D: LeakyReLU(0.2) throughout — avoids dying ReLU in discriminator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No fully-connected layers beyond projection into 4×4 spatial feature map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Initialise weights: N(0, 0.02); biases = 0 for Conv and BN layers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▸  Optimizer: Adam with lr=0.0002, β₁=0.5, β₂=0.999 for both G and 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" y="45720"/>
            <a:ext cx="89522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WGAN &amp; WGAN-GP — Stabilised Training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8229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Courier New" panose="02070309020205020404"/>
              </a:rPr>
              <a:t>min_G max_{‖f‖_L≤1} E_{x~p_data}[f(x)] − E_{z~p_z}[f(G(z))]   +   λ·E_{x̂}[(‖∇_{x̂}f(x̂)‖₂ − 1)²]</a:t>
            </a:r>
            <a:endParaRPr sz="1300" b="0" i="0">
              <a:solidFill>
                <a:srgbClr val="90E0EF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88B"/>
                </a:solidFill>
                <a:latin typeface="Calibri" panose="020F0502020204030204"/>
              </a:rPr>
              <a:t>f is the critic (no sigmoid); gradient penalty enforces 1-Lipschitz constraint (WGAN-GP)</a:t>
            </a:r>
            <a:endParaRPr sz="10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190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Wasserstein-1 distance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Measures the cost of transporting mass from p_g to p_data — always continuous and differentiable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09159" y="164592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190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No mode collapse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Wasserstein loss doesn't saturate; gradients remain informative throughout training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249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Loss ≈ quality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3108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WGAN critic loss correlates with visual sample quality — unlike JS-based loss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59" y="265176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7249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WGAN-GP vs clipping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3108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Weight clipping causes gradient issues; gradient penalty (Gulrajani 2017) is preferred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7307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Implementation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79" y="4114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Remove sigmoid from D; use RMSProp or Adam; clip weights or add GP term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09159" y="3657600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307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Spectral norm alt.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46320" y="4114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Miyato et al. 2018: spectral normalisation is a cheaper alternative to GP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13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Image-to-Image Translation — Pix2Pix &amp; CycleGAN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3520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326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Pix2Pix (Paired Translation)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3931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Requires aligned input–target image pairs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Loss = cGAN adversarial loss + λ·L1 reconstruction loss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Applications: edges→photo, maps→satellite, sketch→face, BW→colour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PatchGAN discriminator: classifies 70×70 overlapping patches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Limitation: requires paired dataset; hard to collect at scale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Reference: Isola et al., CVPR 2017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822960"/>
            <a:ext cx="4206240" cy="3520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326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CycleGAN (Unpaired Translation)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280160"/>
            <a:ext cx="3931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No paired data needed — only two unpaired domains X and Y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Two generators: G: X→Y  and  F: Y→X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Cycle consistency: F(G(x))≈x  and  G(F(y))≈y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Identity loss: G(y)≈y (preserves colour when unnecessary changes)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Applications: horse↔zebra, summer↔winter, paintings→photos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Reference: Zhu et al., ICCV 2017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166"/>
                </a:solidFill>
                <a:latin typeface="Calibri" panose="020F0502020204030204"/>
              </a:rPr>
              <a:t>Key insight: Cycle consistency acts as a self-supervised signal, replacing the need for paired supervision.</a:t>
            </a:r>
            <a:endParaRPr sz="11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" y="45720"/>
            <a:ext cx="89522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Super-Resolution GANs — SRGAN &amp; ESRGAN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8229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Courier New" panose="02070309020205020404"/>
              </a:rPr>
              <a:t>L_total = L_content (perceptual/VGG loss) + λ·L_adversarial</a:t>
            </a:r>
            <a:endParaRPr sz="1300" b="0" i="0">
              <a:solidFill>
                <a:srgbClr val="90E0EF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88B"/>
                </a:solidFill>
                <a:latin typeface="Calibri" panose="020F0502020204030204"/>
              </a:rPr>
              <a:t>Perceptual loss uses VGG feature maps — encourages realistic textures, not just pixel similarity</a:t>
            </a:r>
            <a:endParaRPr sz="1000" b="0" i="0">
              <a:solidFill>
                <a:srgbClr val="64788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190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SRGAN (Ledig 2017)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" y="2103120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4× upscaling; first GAN to produce photo-realistic SR results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09159" y="1627632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190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ESRGAN (Wang 2018)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Residual-in-Residual Dense Blocks; Relativistic GAN discriminator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Real-ESRGAN (2021)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3127248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Trained on synthetic degraded images to handle real-world noise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59" y="2651760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Medical SR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3127248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Microscopy, MRI, CT enhancement — must validate clinically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367588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7673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Remote sensing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79" y="4151376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Satellite image resolution enhancement for analysis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09159" y="367588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673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Limitation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46320" y="4151376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GAN SR may hallucinate plausible but false textures — critical in diagnostics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" y="45720"/>
            <a:ext cx="89522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StyleGAN Family — Style-Based Generation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32588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Latent z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328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2B45"/>
                </a:solidFill>
                <a:latin typeface="Calibri" panose="020F0502020204030204"/>
              </a:rPr>
              <a:t>Noise input</a:t>
            </a:r>
            <a:endParaRPr sz="900" b="0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1170432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19072" y="914400"/>
            <a:ext cx="132588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 panose="02040503050406030204"/>
              </a:rPr>
              <a:t>Mapping f</a:t>
            </a:r>
            <a:endParaRPr sz="11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3080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 panose="020F0502020204030204"/>
              </a:rPr>
              <a:t>8-layer MLP
z→w</a:t>
            </a:r>
            <a:endParaRPr sz="9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4952" y="1170432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63824" y="914400"/>
            <a:ext cx="132588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 panose="02040503050406030204"/>
              </a:rPr>
              <a:t>w Space</a:t>
            </a:r>
            <a:endParaRPr sz="11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 panose="020F0502020204030204"/>
              </a:rPr>
              <a:t>Disentangled
latent space</a:t>
            </a:r>
            <a:endParaRPr sz="9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9704" y="1170432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08576" y="914400"/>
            <a:ext cx="132588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 panose="02040503050406030204"/>
              </a:rPr>
              <a:t>AdaIN Layers</a:t>
            </a:r>
            <a:endParaRPr sz="11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2584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 panose="020F0502020204030204"/>
              </a:rPr>
              <a:t>Style mod.
at each res.</a:t>
            </a:r>
            <a:endParaRPr sz="9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34456" y="1170432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53328" y="914400"/>
            <a:ext cx="1325880" cy="86868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7336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 panose="02040503050406030204"/>
              </a:rPr>
              <a:t>Synthesis G</a:t>
            </a:r>
            <a:endParaRPr sz="11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7336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 panose="020F0502020204030204"/>
              </a:rPr>
              <a:t>4→8→…→1024
progressive</a:t>
            </a:r>
            <a:endParaRPr sz="9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79208" y="1170432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4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98080" y="914400"/>
            <a:ext cx="132588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950976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Output Image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2088" y="1298448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2B45"/>
                </a:solidFill>
                <a:latin typeface="Calibri" panose="020F0502020204030204"/>
              </a:rPr>
              <a:t>High-fidelity
sample</a:t>
            </a:r>
            <a:endParaRPr sz="900" b="0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202996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Coarse styles (4–8px)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79" y="2487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Control pose, general facial shape, hair length and viewpoint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09159" y="202996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Middle styles (16–32px)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46320" y="2487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Control facial features, eye shape, hair structure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4320" y="299008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063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Fine styles (64–1024px)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1479" y="34472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Control colour scheme, fine texture and micro-structure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09159" y="299008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063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Style mixing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46320" y="34472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Two latent codes applied at different layers — controls disentanglement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4320" y="395020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023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Truncation trick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1479" y="4407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w = w_avg + ψ(w−w_avg); ψ&lt;1 trades diversity for quality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709159" y="3950208"/>
            <a:ext cx="420624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4023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StyleGAN3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46320" y="4407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Alias-free — eliminates texture sticking; better for animation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2B45"/>
                </a:solidFill>
                <a:latin typeface="Cambria" panose="02040503050406030204"/>
              </a:rPr>
              <a:t>16</a:t>
            </a:r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Tabular GANs — CTGAN &amp; Synthetic Data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Why Tabular Data is Hard for GANs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Mixed data types: continuous + categorical columns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Multi-modal continuous distributions (e.g., income has peaks)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Class imbalance — minority class underrepresented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CTGAN solution: Mode-specific normalisation of continuous cols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Conditional sampling: enforces minority class coverage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Privacy risk: must check for training data memorisation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Reference: Xu et al., NeurIPS 2019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841248"/>
            <a:ext cx="420624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Evaluation of Synthetic Tabular Data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298448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Train on Synthetic, Test on Real (TSTR) — measure accuracy delta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Column-wise distribution similarity: Kolmogorov-Smirnov test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Pairwise correlation preservation — Spearman / Pearson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Privacy: nearest-neighbour distance ratio to training set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Duplicate detection: exact or near-duplicate row check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Never include synthetic rows in validation or test splits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Demo 1 uses this pipeline with a built-in imbalanced dataset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15240" y="45720"/>
            <a:ext cx="897636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Applications &amp; Case Studies Overview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🖼  Image Generation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16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Creative AI, design, fashion, gaming — StyleGAN, BigGAN, GauGAN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4124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🔄  Image Translation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16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Domain adaptation, photo editing — Pix2Pix, CycleGAN, StarGAN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184708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🔬  Super-Resolution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3225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Medical imaging, satellite, film restoration — SRGAN, ESRGAN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184708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📊  Data Augmentation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3225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Minority class synthesis, rare event generation — CTGAN, cGAN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🏥  Healthcare / Biomedical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33284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MRI/CT augmentation, staining normalisation, rare pathology synthesis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9159" y="285292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🔒  Privacy-Preserving Synth.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Share synthetic datasets without exposing real patient records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85876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🤖  Simulation &amp; Robotics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79" y="4334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Domain randomisation for sim-to-real transfer in autonomous systems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09159" y="3858768"/>
            <a:ext cx="4206240" cy="8961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🎭  Deepfake / Media Forensics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4334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Face swap, reenactment — and detection / watermarking countermeasures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" y="45720"/>
            <a:ext cx="89096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Case Study — Image Generation &amp; Latent Space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What GANs Learn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Generator maps latent space Z → image manifold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Nearby points in Z → semantically similar images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Linear interpolation between z₁ and z₂ → smooth visual morphing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Latent directions encode semantic attributes (age, pose, smile)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GAN inversion: find z for a given real image → enables editing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Applications: creative tools, game asset generation, fashion design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Risk: memorisation of training faces, copyright, deepfake misuse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841248"/>
            <a:ext cx="4206240" cy="402336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Notable Milestones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298448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2014 — First GAN: blurry MNIST digits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2015 — DCGAN: stable 64×64 bedroom images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2017 — ProGAN: 1024×1024 celebrity faces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2019 — StyleGAN: photorealistic human faces (thispersondoesnotexist.com)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2020 — BigGAN: class-conditional ImageNet synthesis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2021 — GAN Inversion &amp; editing pipelines mature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2022+ — Diffusion models emerge as dominant, GANs remain fast samplers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Case Study — Data Augmentation for Rare Classes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132588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868680"/>
            <a:ext cx="11978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B45"/>
                </a:solidFill>
                <a:latin typeface="Calibri" panose="020F0502020204030204"/>
              </a:rPr>
              <a:t>Imbalanced
Training Data</a:t>
            </a:r>
            <a:endParaRPr sz="10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060704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94560" y="841248"/>
            <a:ext cx="132588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868680"/>
            <a:ext cx="11978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Train cGAN
on Minority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20439" y="1060704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0" y="841248"/>
            <a:ext cx="132588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868680"/>
            <a:ext cx="11978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Generate
Synthetic Rows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0680" y="1060704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841248"/>
            <a:ext cx="1325880" cy="8412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868680"/>
            <a:ext cx="11978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 panose="020F0502020204030204"/>
              </a:rPr>
              <a:t>Merge with
Real Data</a:t>
            </a:r>
            <a:endParaRPr sz="1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0919" y="1060704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98079" y="841248"/>
            <a:ext cx="132588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868680"/>
            <a:ext cx="11978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B45"/>
                </a:solidFill>
                <a:latin typeface="Calibri" panose="020F0502020204030204"/>
              </a:rPr>
              <a:t>Train &amp; Eval
Classifier</a:t>
            </a:r>
            <a:endParaRPr sz="1000" b="1" i="0">
              <a:solidFill>
                <a:srgbClr val="062B45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1938528"/>
            <a:ext cx="8595360" cy="521207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0116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RULE 1: Never include synthetic samples in the validation or test set — evaluate on real data only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2523744"/>
            <a:ext cx="8595360" cy="521207"/>
          </a:xfrm>
          <a:prstGeom prst="rect">
            <a:avLst/>
          </a:prstGeom>
          <a:solidFill>
            <a:srgbClr val="0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9689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RULE 2: Compare GAN augmentation against baselines: class weights, SMOTE, ADASYN, random oversampling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108960"/>
            <a:ext cx="8595360" cy="521207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1821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RULE 3: Measure downstream model improvement (F1, AUC-ROC for minority class), not only distribution similarity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694176"/>
            <a:ext cx="8595360" cy="521207"/>
          </a:xfrm>
          <a:prstGeom prst="rect">
            <a:avLst/>
          </a:prstGeom>
          <a:solidFill>
            <a:srgbClr val="0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6732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RULE 4: Check for near-duplicate synthetic rows — they add no diversity and can inflate metrics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4279392"/>
            <a:ext cx="8595360" cy="521207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35254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RULE 5: Perform ablation: how much does each additional synthetic sample improve minority recall?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" y="45720"/>
            <a:ext cx="893445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Healthcare &amp; Biomedical Applications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326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Medical Image Augmentation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Generate rare pathologies (tumours, lesions) to augment limited annotated datasets. Reduces radiologist annotation burden.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326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MRI Modality Translation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7160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CycleGAN-based T1↔T2 translation reduces need for multiple scan sessions. Staining normalisation in histopathology.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CT↔MRI Synthesis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7249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Train models where one modality is unavailable — e.g., CT from MRI to avoid radiation.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Super-Resolution in Microscopy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7249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SRGAN-based methods enhance cell microscopy images for better feature extraction in pathology pipelines.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6393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Privacy-Preserving Datasets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40782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Synthetic patient records allow data sharing across institutions without violating HIPAA/GDPR. Requires membership inference audit.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9159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6393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Drug Discovery / Molecule Gen.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20" y="40782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GAN-based molecular generation (MolGAN) for de-novo drug candidate synthesis with property constraints.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166"/>
                </a:solidFill>
                <a:latin typeface="Calibri" panose="020F0502020204030204"/>
              </a:rPr>
              <a:t>⚠  Clinical validation and regulatory compliance (FDA/CE-mark) are mandatory before any diagnostic use of GAN outputs.</a:t>
            </a:r>
            <a:endParaRPr sz="10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3652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Other Emerging Applications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Autonomous Vehicles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Domain randomisation: GANs generate diverse weather, lighting and road conditions for sim-to-real transfer in perception models.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229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Fashion &amp; Creative AI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DALL·E-adjacent: GANs generate clothing textures, virtual try-on, interior design — GANcraft converts Minecraft worlds to realistic renders.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677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Speech &amp; Audio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GAN-based vocoders (MelGAN, HiFi-GAN) produce high-quality speech waveforms from spectrograms; music style transfer.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21762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677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Video Generation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VideoGAN, MoCoGAN: generate temporally consistent video clips; used in film VFX and video prediction research.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529584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621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Text-to-Image (hybrid)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StackGAN, AttnGAN condition on text embeddings. Largely superseded by diffusion models but foundational architectures.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9159" y="3529584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621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Cybersecurity &amp; Adversarial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20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GAN-generated adversarial examples for robustness testing; synthetic network traffic for IDS training.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E0EF"/>
                </a:solidFill>
                <a:latin typeface="Calibri" panose="020F0502020204030204"/>
              </a:rPr>
              <a:t>GANs continue to evolve as components within larger systems (LLMs, diffusion pipelines) rather than standalone generative models.</a:t>
            </a:r>
            <a:endParaRPr sz="1000" b="0" i="1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4445" y="73025"/>
            <a:ext cx="87826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 panose="02040503050406030204"/>
              </a:rPr>
              <a:t>Section 06  —  Deepfakes, Detection &amp; Ethics</a:t>
            </a:r>
            <a:endParaRPr sz="2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Face Swap (encoder-decoder)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79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Encode source identity; decode into target pose/lighting. e.g., DeepFaceLab, FaceSwap.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09159" y="8229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Face Reenactment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Drive target face with 3DMM landmarks from source video. e.g., First Order Model, Face2Face.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2677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Lip Sync Generation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79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Replace mouth region to match synthesised speech. e.g., Wav2Lip. Used in dubbing pipelines.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09159" y="21762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2677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Full Identity Synthesis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0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Generate entirely new identity from scratch via StyleGAN — thispersondoesnotexist.com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529584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21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Voice Cloning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79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Clone speaker timbre/prosody from reference audio. e.g., YourTTS, VALL-E (5-sec cloning).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09159" y="3529584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621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mbria" panose="02040503050406030204"/>
              </a:rPr>
              <a:t>Attribute Editing</a:t>
            </a:r>
            <a:endParaRPr sz="1200" b="1" i="0">
              <a:solidFill>
                <a:srgbClr val="FF8080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46320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Targeted face editing: age, expression, accessories. e.g., InterFaceGAN, StyleCLIP.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 panose="020F0502020204030204"/>
              </a:rPr>
              <a:t>Ethical boundary: NEVER generate or distribute deepfakes of real individuals without explicit consent and lawful purpose.</a:t>
            </a:r>
            <a:endParaRPr sz="1000" b="1" i="0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415" y="45720"/>
            <a:ext cx="894270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Deepfake Detection Methods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18105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14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Visual Artifact Analysis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Unnatural eye blinking / gaze inconsistency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Boundary blending artefacts at face edges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Skin texture noise patterns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Tooth and ear rendering failures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Inconsistent lighting / shadow direction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22960"/>
            <a:ext cx="4206240" cy="18105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Temporal &amp; Motion Analysis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Frame-to-frame flickering in facial regions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Unnatural head motion trajectory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Physiological signals: rPPG-based heartbeat detection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Optical flow discontinuities across frames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Synchrony between blink and facial expressions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4206240" cy="18105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Audio-Visual Mismatch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324612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Lip-sync failure: mouth shape ≠ phoneme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Latency between speech and expression change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Voice timbre inconsistent with face age/gender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Background audio vs. environment mismatch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2743200"/>
            <a:ext cx="4206240" cy="181051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Provenance &amp; Cryptographic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C2PA (Content Authenticity Initiative) metadata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In-camera watermarking and secure capture chains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Neural network fingerprinting / model attribution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0F4F8"/>
                </a:solidFill>
                <a:latin typeface="Calibri" panose="020F0502020204030204"/>
              </a:rPr>
              <a:t>• Blockchain-based content credential verification</a:t>
            </a:r>
            <a:endParaRPr sz="10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166"/>
                </a:solidFill>
                <a:latin typeface="Calibri" panose="020F0502020204030204"/>
              </a:rPr>
              <a:t>Limitation: detectors trained on known models fail on novel architectures. Robust detection requires ensembles + metadata.</a:t>
            </a:r>
            <a:endParaRPr sz="10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Ethical, Security &amp; Societal Implications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8869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Consent &amp; Autonomy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Do NOT train on facial images without explicit informed consent. Scraping public images ≠ consent. GDPR/CCPA apply.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59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841248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8869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Disclosure &amp; Labelling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0" y="135331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All synthetic or manipulated content must be clearly labelled. Deceptive deployment is unethical and increasingly illegal.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194560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2402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Bias Amplification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GAN training data biases (race, gender, age) are amplified in outputs. Audit generated distributions for fairness.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59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59" y="2194560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402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Fraud &amp; Impersonation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270662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Deepfakes enable CEO fraud, identity theft, romance scams, and election interference — documented real-world harms.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547872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593591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Privacy &amp; Memorisation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79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GANs can memorise and reproduce training examples. Synthetic ≠ private; conduct membership inference audits.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09159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59" y="3547872"/>
            <a:ext cx="4206240" cy="41148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593591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 panose="02040503050406030204"/>
              </a:rPr>
              <a:t>Governance Frameworks</a:t>
            </a:r>
            <a:endParaRPr sz="1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Use access controls, provenance logging, audit trails. Apply responsible AI policies and legal review before deployment.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166"/>
                </a:solidFill>
                <a:latin typeface="Calibri" panose="020F0502020204030204"/>
              </a:rPr>
              <a:t>Policy note: EU AI Act, US DEEPFAKES Accountability Act, and platform policies are evolving rapidly. Stay current.</a:t>
            </a:r>
            <a:endParaRPr sz="1000" b="0" i="1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89611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Demo 1 — Tabular GAN for Class Imbalance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40416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What the Demo Does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39319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Loads an imbalanced binary classification dataset (90/10 split)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Trains a lightweight MLP-GAN on minority-class feature vectors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Scales data with StandardScaler before GAN training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Generates synthetic minority rows (inverse-transforms output)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Merges synthetic rows with real majority → balanced dataset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Compares classifier F1 (minority class) before vs. after balancing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Streamlit UI: configurable epochs, noise dim, CSV upload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841248"/>
            <a:ext cx="4206240" cy="40416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Architecture Details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298448"/>
            <a:ext cx="39319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Generator: Linear(16→64)→ReLU→Linear(64→128)→ReLU→Linear(128→n_features)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Discriminator: Linear(n→128)→LeakyReLU→Dropout(0.2)→Linear(128→64)→LeakyReLU→Linear(64→1)→Sigmoid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Loss: Binary Cross-Entropy for both G and 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Optimizer: Adam(lr=0.0005, β₁=0.5, β₂=0.999)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Default: 600 epochs, batch=32, noise_dim=16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Evaluation: RandomForest on real-only holdout (25% stratified split)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Output: balanced CSV + loss curves + classification report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5580"/>
            <a:ext cx="731520" cy="2051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" y="45720"/>
            <a:ext cx="89604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Demo 2 — Image GAN Fine-tuning on Small Datasets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40416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What the Demo Does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39319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Accepts a ZIP with 5 folders (one per person), 2–5 images each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Preprocesses: Resize(72)→CenterCrop(64)→HorizontalFlip→ColorJitter→Normalize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Optionally loads pretrained G/D checkpoints (.pt files)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Fine-tunes DCGAN-style network for configurable epochs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Shows training loss curves and generated image grid (16 samples)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Saves finetuned_generator.pt and generated_grid.png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Streamlit UI with progress bar, loss log, and image display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841248"/>
            <a:ext cx="4206240" cy="404164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mbria" panose="02040503050406030204"/>
              </a:rPr>
              <a:t>Architecture &amp; Training Details</a:t>
            </a:r>
            <a:endParaRPr sz="13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298448"/>
            <a:ext cx="39319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Generator: ConvT(nz→512→256→128→64→3) + BN + ReLU + Tanh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Discriminator: Conv(3→64→128→256→512→1) + BN + LeakyReLU + Sigmoid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Weight init: N(0, 0.02) for Conv layers; BN: weight=1, bias=0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Loss: BCELoss; Optimizer: Adam(lr=0.0002, β₁=0.5, β₂=0.999)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With only 10–25 images, G cannot learn full distribution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Educational purpose: illustrates fine-tuning workflow clearly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F4F8"/>
                </a:solidFill>
                <a:latin typeface="Calibri" panose="020F0502020204030204"/>
              </a:rPr>
              <a:t>Safety warning embedded in UI — consent required for face images</a:t>
            </a:r>
            <a:endParaRPr sz="12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" y="45720"/>
            <a:ext cx="89604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Evaluating GAN Results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FID — Fréchet Inception Distance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Measures distance between real and generated feature distributions (InceptionV3 embeddings). Lower = better. Gold standard for image quality.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41248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IS — Inception Score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4416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Measures sharpness (high confidence per image) × diversity (entropy over classes). Higher = better. Sensitive to class coverage, not fidelity.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Precision &amp; Recall (P&amp;R)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69748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Precision: fraction of generated samples in real distribution. Recall: fraction of real distribution covered by G. Disentangles quality vs. diversity.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2194560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TSTR — Train on Synth, Test on Real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69748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For tabular: train downstream classifier on synthetic data, evaluate on real holdout. Measures utility preservation.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639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Privacy: NNDR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405079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Nearest-neighbour distance ratio: measures how close synthetic samples are to training records. Detects memorisation.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9159" y="3547872"/>
            <a:ext cx="4206240" cy="1234440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639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mbria" panose="02040503050406030204"/>
              </a:rPr>
              <a:t>Human Evaluation</a:t>
            </a:r>
            <a:endParaRPr sz="11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20" y="405079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Turing test-style protocols. Essential for face synthesis and artistic content. Automated metrics miss perceptual nuances.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0" y="45720"/>
            <a:ext cx="86309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GANs vs. Other Generative Models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86410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503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1720" y="850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GANs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7639" y="85039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VAEs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32120" y="85039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Diffusion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0" y="850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B45"/>
                </a:solidFill>
                <a:latin typeface="Cambria" panose="02040503050406030204"/>
              </a:rPr>
              <a:t>Autoregressive</a:t>
            </a:r>
            <a:endParaRPr sz="11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1298448"/>
            <a:ext cx="8641080" cy="47548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53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Training stability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1720" y="1353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  <a:latin typeface="Calibri" panose="020F0502020204030204"/>
              </a:rPr>
              <a:t>⚠ Difficult</a:t>
            </a:r>
            <a:endParaRPr sz="1000" b="0" i="0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39" y="135331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Stable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135331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Stable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1353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Stable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1810512"/>
            <a:ext cx="8641080" cy="475488"/>
          </a:xfrm>
          <a:prstGeom prst="rect">
            <a:avLst/>
          </a:prstGeom>
          <a:solidFill>
            <a:srgbClr val="0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653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Sample quality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18653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Very high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77639" y="18653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  <a:latin typeface="Calibri" panose="020F0502020204030204"/>
              </a:rPr>
              <a:t>⚠ Blurry</a:t>
            </a:r>
            <a:endParaRPr sz="1000" b="0" i="0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32120" y="18653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Excellent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18653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Good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2322576"/>
            <a:ext cx="8641080" cy="47548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77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Sample speed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31720" y="23774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 panose="020F0502020204030204"/>
              </a:rPr>
              <a:t>✓✓ Fast</a:t>
            </a:r>
            <a:endParaRPr sz="1000" b="0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77639" y="237744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 panose="020F0502020204030204"/>
              </a:rPr>
              <a:t>✓✓ Fast</a:t>
            </a:r>
            <a:endParaRPr sz="1000" b="0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32120" y="237744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 panose="020F0502020204030204"/>
              </a:rPr>
              <a:t>✗ Slow</a:t>
            </a:r>
            <a:endParaRPr sz="1000" b="0" i="0">
              <a:solidFill>
                <a:srgbClr val="FF6B6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0" y="23774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 panose="020F0502020204030204"/>
              </a:rPr>
              <a:t>✗ Very slow</a:t>
            </a:r>
            <a:endParaRPr sz="1000" b="0" i="0">
              <a:solidFill>
                <a:srgbClr val="FF6B6B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2834640"/>
            <a:ext cx="8641080" cy="475488"/>
          </a:xfrm>
          <a:prstGeom prst="rect">
            <a:avLst/>
          </a:prstGeom>
          <a:solidFill>
            <a:srgbClr val="0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889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Mode coverage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31720" y="2889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  <a:latin typeface="Calibri" panose="020F0502020204030204"/>
              </a:rPr>
              <a:t>⚠ Mode collapse</a:t>
            </a:r>
            <a:endParaRPr sz="1000" b="0" i="0">
              <a:solidFill>
                <a:srgbClr val="FFD166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77639" y="288950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Good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32120" y="288950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 panose="020F0502020204030204"/>
              </a:rPr>
              <a:t>✓✓ Excellent</a:t>
            </a:r>
            <a:endParaRPr sz="1000" b="0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32320" y="2889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Good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4320" y="3346704"/>
            <a:ext cx="8641080" cy="47548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01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Controllability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1720" y="34015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Conditional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7639" y="3401568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Latent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32120" y="3401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 panose="020F0502020204030204"/>
              </a:rPr>
              <a:t>✓✓ Excellent</a:t>
            </a:r>
            <a:endParaRPr sz="1000" b="0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32320" y="34015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Prompted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3858768"/>
            <a:ext cx="8641080" cy="475488"/>
          </a:xfrm>
          <a:prstGeom prst="rect">
            <a:avLst/>
          </a:prstGeom>
          <a:solidFill>
            <a:srgbClr val="0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913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Likelihood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31720" y="3913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 panose="020F0502020204030204"/>
              </a:rPr>
              <a:t>✗ Implicit</a:t>
            </a:r>
            <a:endParaRPr sz="1000" b="0" i="0">
              <a:solidFill>
                <a:srgbClr val="FF6B6B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77639" y="3913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ELBO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32120" y="39136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~✓ Score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32320" y="3913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Exact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4320" y="4370832"/>
            <a:ext cx="8641080" cy="47548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4256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Text-to-Image SOTA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31720" y="4425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 panose="020F0502020204030204"/>
              </a:rPr>
              <a:t>✗</a:t>
            </a:r>
            <a:endParaRPr sz="1000" b="0" i="0">
              <a:solidFill>
                <a:srgbClr val="FF6B6B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77639" y="442569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 panose="020F0502020204030204"/>
              </a:rPr>
              <a:t>✗</a:t>
            </a:r>
            <a:endParaRPr sz="1000" b="0" i="0">
              <a:solidFill>
                <a:srgbClr val="FF6B6B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32120" y="44256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 panose="020F0502020204030204"/>
              </a:rPr>
              <a:t>✓✓ (SDXL etc.)</a:t>
            </a:r>
            <a:endParaRPr sz="1000" b="0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132320" y="4425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✓ (DALL·E)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" y="45720"/>
            <a:ext cx="89604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Practical Best Practices Checklist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Before Training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316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Always start with a simple baseline (logistic regression, SMOTE) before reaching for a GAN. Establish what improvement is actually needed.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4124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Data Hygiene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316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Strict train/val/test separation. Never include synthetic samples in val or test splits. Document data source, consent status, and collection date.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184708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Architecture Choice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3225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Match architecture to data type: DCGAN/StyleGAN for images, CTGAN for tabular, HiFi-GAN for audio. Avoid over-engineering.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184708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Training Monitoring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3225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Save sample grids and loss curves every N epochs. Monitor FID periodically. Stop early if mode collapse is detected.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Reproducibility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33284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Set random seeds. Log hyperparameters, dataset hash, model config. Use MLflow / W&amp;B for experiment tracking.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9159" y="285292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944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Evaluation Rigour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Report FID + Precision + Recall for images; TSTR + NNDR for tabular. Include human evaluation for deployment decisions.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85876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Privacy Audit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79" y="4334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Run nearest-neighbour distance ratio and duplicate detection before releasing synthetic datasets. Do not claim synthetic = private.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09159" y="3858768"/>
            <a:ext cx="4206240" cy="886968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9502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mbria" panose="02040503050406030204"/>
              </a:rPr>
              <a:t>Ethical Review</a:t>
            </a:r>
            <a:endParaRPr sz="12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4334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 panose="020F0502020204030204"/>
              </a:rPr>
              <a:t>Get IRB/ethics approval for biomedical applications. Legal review for synthetic face generation. Clear labelling policy for published outputs.</a:t>
            </a:r>
            <a:endParaRPr sz="10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2B45"/>
                </a:solidFill>
                <a:latin typeface="Cambria" panose="02040503050406030204"/>
              </a:rPr>
              <a:t>Conclusion</a:t>
            </a:r>
            <a:endParaRPr sz="28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4206240" cy="171907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7840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mbria" panose="02040503050406030204"/>
              </a:rPr>
              <a:t>Concept</a:t>
            </a:r>
            <a:endParaRPr sz="16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79" y="1435607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GANs frame generation as an adversarial game between a generator and discriminator — a simple but powerful idea that changed generative modelling.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9159" y="868680"/>
            <a:ext cx="4206240" cy="171907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7840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mbria" panose="02040503050406030204"/>
              </a:rPr>
              <a:t>Impact</a:t>
            </a:r>
            <a:endParaRPr sz="16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435607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From photorealistic faces (StyleGAN) to synthetic patient records (CTGAN), GANs have transformed vision, healthcare, creative AI, and data science.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4206240" cy="171907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8529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mbria" panose="02040503050406030204"/>
              </a:rPr>
              <a:t>Responsibility</a:t>
            </a:r>
            <a:endParaRPr sz="16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Deepfake misuse, bias amplification, privacy leakage, and non-consensual synthesis are real harms. Responsible practice requires guardrails at every stage.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09159" y="2743200"/>
            <a:ext cx="4206240" cy="1719072"/>
          </a:xfrm>
          <a:prstGeom prst="rect">
            <a:avLst/>
          </a:prstGeom>
          <a:solidFill>
            <a:srgbClr val="02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529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mbria" panose="02040503050406030204"/>
              </a:rPr>
              <a:t>Future</a:t>
            </a:r>
            <a:endParaRPr sz="1600" b="1" i="0">
              <a:solidFill>
                <a:srgbClr val="00B4D8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3310128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 panose="020F0502020204030204"/>
              </a:rPr>
              <a:t>Diffusion models now lead on image quality, but GANs remain the fastest samplers. They increasingly appear as components inside larger AI pipelines.</a:t>
            </a:r>
            <a:endParaRPr sz="1100" b="0" i="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D166"/>
                </a:solidFill>
                <a:latin typeface="Calibri" panose="020F0502020204030204"/>
              </a:rPr>
              <a:t>GAN quality = training stability + evaluation discipline + ethical safeguards.</a:t>
            </a:r>
            <a:endParaRPr sz="1200" b="1" i="1">
              <a:solidFill>
                <a:srgbClr val="FFD1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2B45"/>
                </a:solidFill>
                <a:latin typeface="Cambria" panose="02040503050406030204"/>
              </a:rPr>
              <a:t>Selected References</a:t>
            </a:r>
            <a:endParaRPr sz="2200" b="1" i="0">
              <a:solidFill>
                <a:srgbClr val="062B45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8503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[1]  Goodfellow et al. (2014). Generative Adversarial Nets. NeurIPS 2014.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[2]  Mirza &amp; Osindero (2014). Conditional Generative Adversarial Nets. arXiv:1411.1784.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[3]  Radford, Metz &amp; Chintala (2015). Unsupervised Representation Learning with DCGAN. arXiv:1511.06434.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[4]  Arjovsky, Chintala &amp; Bottou (2017). Wasserstein GAN. ICML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[5]  Gulrajani et al. (2017). Improved Training of Wasserstein GANs. NeurIPS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[6]  Isola et al. (2017). Image-to-Image Translation with Conditional Adversarial Networks. CVPR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[7]  Zhu et al. (2017). Unpaired Image-to-Image Translation using Cycle-Consistent Adversarial Networks. ICCV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[8]  Ledig et al. (2017). Photo-Realistic Single Image Super-Resolution Using a GAN. CVPR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[9]  Karras et al. (2018). Progressive Growing of GANs for Improved Quality, Stability, and Variation. ICLR 2018.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[10]  Miyato et al. (2018). Spectral Normalization for GANs. ICLR 2018.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[11]  Karras et al. (2019/2020/2021). StyleGAN / StyleGAN2 / StyleGAN3. CVPR/NeurIPS.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[12]  Xu et al. (2019). Modeling Tabular Data using Conditional GAN (CTGAN). NeurIPS 2019.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[13]  Wang et al. (2018). ESRGAN: Enhanced Super-Resolution Generative Adversarial Networks. ECCV 2018.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[14]  Rossler et al. (2019). FaceForensics++: Learning to Detect Manipulated Facial Images. ICCV 2019.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0F4F8"/>
                </a:solidFill>
                <a:latin typeface="Calibri" panose="020F0502020204030204"/>
              </a:rPr>
              <a:t>[15]  Heusel et al. (2017). GANs Trained by a Two Time-Scale Update Rule Converge to Nash Equilibrium. NeurIPS 2017.</a:t>
            </a:r>
            <a:endParaRPr sz="1100">
              <a:solidFill>
                <a:srgbClr val="F0F4F8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B"/>
                </a:solidFill>
                <a:latin typeface="Calibri" panose="020F0502020204030204"/>
              </a:rPr>
              <a:t>Generative Adversarial Networks  |  References at end</a:t>
            </a:r>
            <a:endParaRPr sz="900" b="0" i="0">
              <a:solidFill>
                <a:srgbClr val="6478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27112</Words>
  <Application>WPS Presentation</Application>
  <PresentationFormat>On-screen Show (4:3)</PresentationFormat>
  <Paragraphs>1133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Cambria</vt:lpstr>
      <vt:lpstr>Calibri</vt:lpstr>
      <vt:lpstr>Courier New</vt:lpstr>
      <vt:lpstr>Microsoft YaHei</vt:lpstr>
      <vt:lpstr>Arial Unicode MS</vt:lpstr>
      <vt:lpstr>MS PGothic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sai kumar</cp:lastModifiedBy>
  <cp:revision>3</cp:revision>
  <dcterms:created xsi:type="dcterms:W3CDTF">2013-01-27T09:14:00Z</dcterms:created>
  <dcterms:modified xsi:type="dcterms:W3CDTF">2026-06-09T10:45:48Z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81EC4D2E8A34433FAD070470530C9C11_12</vt:lpwstr>
  </property>
  <property fmtid="{D5CDD505-2E9C-101B-9397-08002B2CF9AE}" pid="3" name="KSOProductBuildVer">
    <vt:lpwstr>1033-12.1.0.26372</vt:lpwstr>
  </property>
</Properties>
</file>